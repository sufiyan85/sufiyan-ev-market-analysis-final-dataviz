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D26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1D26"/>
                </a:solidFill>
                <a:latin typeface="Arial"/>
              </a:rPr>
              <a:t>World EV sales grew 41x from 2015-2025 as their market share passed 25%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World EV sales (millions)</c:v>
                </c:pt>
              </c:strCache>
            </c:strRef>
          </c:tx>
          <c:spPr>
            <a:solidFill>
              <a:srgbClr val="B0B0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0.52</c:v>
                </c:pt>
                <c:pt idx="1">
                  <c:v>0.78</c:v>
                </c:pt>
                <c:pt idx="2">
                  <c:v>1.2</c:v>
                </c:pt>
                <c:pt idx="3">
                  <c:v>2.05</c:v>
                </c:pt>
                <c:pt idx="4">
                  <c:v>2.08</c:v>
                </c:pt>
                <c:pt idx="5">
                  <c:v>2.98</c:v>
                </c:pt>
                <c:pt idx="6">
                  <c:v>6.6</c:v>
                </c:pt>
                <c:pt idx="7">
                  <c:v>10.2</c:v>
                </c:pt>
                <c:pt idx="8">
                  <c:v>13.7</c:v>
                </c:pt>
                <c:pt idx="9">
                  <c:v>17.5</c:v>
                </c:pt>
                <c:pt idx="10">
                  <c:v>21.2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World EV sales share (%)</c:v>
                </c:pt>
              </c:strCache>
            </c:strRef>
          </c:tx>
          <c:spPr>
            <a:solidFill>
              <a:srgbClr val="3DDC97"/>
            </a:solidFill>
            <a:ln w="38100" cap="flat">
              <a:solidFill>
                <a:srgbClr val="3DDC9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DDC97"/>
              </a:solidFill>
              <a:ln w="9525" cap="flat">
                <a:solidFill>
                  <a:srgbClr val="3DDC9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0.7</c:v>
                </c:pt>
                <c:pt idx="1">
                  <c:v>1</c:v>
                </c:pt>
                <c:pt idx="2">
                  <c:v>1.4</c:v>
                </c:pt>
                <c:pt idx="3">
                  <c:v>2.4</c:v>
                </c:pt>
                <c:pt idx="4">
                  <c:v>2.7</c:v>
                </c:pt>
                <c:pt idx="5">
                  <c:v>4.4</c:v>
                </c:pt>
                <c:pt idx="6">
                  <c:v>9.3</c:v>
                </c:pt>
                <c:pt idx="7">
                  <c:v>15</c:v>
                </c:pt>
                <c:pt idx="8">
                  <c:v>18</c:v>
                </c:pt>
                <c:pt idx="9">
                  <c:v>21</c:v>
                </c:pt>
                <c:pt idx="10">
                  <c:v>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5535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5535A"/>
                    </a:solidFill>
                    <a:latin typeface="Arial"/>
                  </a:rPr>
                  <a:t>EV sales (millions/year)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5535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5535A"/>
                    </a:solidFill>
                    <a:latin typeface="Arial"/>
                  </a:rPr>
                  <a:t>Sales share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35A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35A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D26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1D26"/>
                </a:solidFill>
                <a:latin typeface="Arial"/>
              </a:rPr>
              <a:t>Asia-Pacific's share of global EV sales volume overtook Europe's around 2022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0072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30.5</c:v>
                </c:pt>
                <c:pt idx="1">
                  <c:v>29.6</c:v>
                </c:pt>
                <c:pt idx="2">
                  <c:v>26</c:v>
                </c:pt>
                <c:pt idx="3">
                  <c:v>19.3</c:v>
                </c:pt>
                <c:pt idx="4">
                  <c:v>26.6</c:v>
                </c:pt>
                <c:pt idx="5">
                  <c:v>45.9</c:v>
                </c:pt>
                <c:pt idx="6">
                  <c:v>35.1</c:v>
                </c:pt>
                <c:pt idx="7">
                  <c:v>25.6</c:v>
                </c:pt>
                <c:pt idx="8">
                  <c:v>22.1</c:v>
                </c:pt>
                <c:pt idx="9">
                  <c:v>17.5</c:v>
                </c:pt>
                <c:pt idx="10">
                  <c:v>18.8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Asia-Pacific</c:v>
                </c:pt>
              </c:strCache>
            </c:strRef>
          </c:tx>
          <c:spPr>
            <a:solidFill>
              <a:srgbClr val="D55E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46.2</c:v>
                </c:pt>
                <c:pt idx="1">
                  <c:v>48</c:v>
                </c:pt>
                <c:pt idx="2">
                  <c:v>55.9</c:v>
                </c:pt>
                <c:pt idx="3">
                  <c:v>60.4</c:v>
                </c:pt>
                <c:pt idx="4">
                  <c:v>55.2</c:v>
                </c:pt>
                <c:pt idx="5">
                  <c:v>41.9</c:v>
                </c:pt>
                <c:pt idx="6">
                  <c:v>53</c:v>
                </c:pt>
                <c:pt idx="7">
                  <c:v>62.6</c:v>
                </c:pt>
                <c:pt idx="8">
                  <c:v>64.8</c:v>
                </c:pt>
                <c:pt idx="9">
                  <c:v>69.9</c:v>
                </c:pt>
                <c:pt idx="10">
                  <c:v>69.8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Americas</c:v>
                </c:pt>
              </c:strCache>
            </c:strRef>
          </c:tx>
          <c:spPr>
            <a:solidFill>
              <a:srgbClr val="E69F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23.2</c:v>
                </c:pt>
                <c:pt idx="1">
                  <c:v>22.3</c:v>
                </c:pt>
                <c:pt idx="2">
                  <c:v>17.9</c:v>
                </c:pt>
                <c:pt idx="3">
                  <c:v>20.1</c:v>
                </c:pt>
                <c:pt idx="4">
                  <c:v>17.9</c:v>
                </c:pt>
                <c:pt idx="5">
                  <c:v>11.9</c:v>
                </c:pt>
                <c:pt idx="6">
                  <c:v>11.4</c:v>
                </c:pt>
                <c:pt idx="7">
                  <c:v>11.2</c:v>
                </c:pt>
                <c:pt idx="8">
                  <c:v>12</c:v>
                </c:pt>
                <c:pt idx="9">
                  <c:v>11.4</c:v>
                </c:pt>
                <c:pt idx="10">
                  <c:v>9.6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Middle East</c:v>
                </c:pt>
              </c:strCache>
            </c:strRef>
          </c:tx>
          <c:spPr>
            <a:solidFill>
              <a:srgbClr val="CC79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0.1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0.3</c:v>
                </c:pt>
                <c:pt idx="5">
                  <c:v>0.3</c:v>
                </c:pt>
                <c:pt idx="6">
                  <c:v>0.5</c:v>
                </c:pt>
                <c:pt idx="7">
                  <c:v>0.6</c:v>
                </c:pt>
                <c:pt idx="8">
                  <c:v>1.1</c:v>
                </c:pt>
                <c:pt idx="9">
                  <c:v>1.2</c:v>
                </c:pt>
                <c:pt idx="10">
                  <c:v>1.8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Africa</c:v>
                </c:pt>
              </c:strCache>
            </c:strRef>
          </c:tx>
          <c:spPr>
            <a:solidFill>
              <a:srgbClr val="B0B0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4E7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45535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45535A"/>
                    </a:solidFill>
                    <a:latin typeface="Arial"/>
                  </a:rPr>
                  <a:t>Share of that year's world EV sales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D26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1D26"/>
                </a:solidFill>
                <a:latin typeface="Arial"/>
              </a:rPr>
              <a:t>Nordic markets crossed from tipping point to mainstream fastest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Years from 5% to 50% EV sales share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D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Denmark</c:v>
                  </c:pt>
                  <c:pt idx="1">
                    <c:v>Finland</c:v>
                  </c:pt>
                  <c:pt idx="2">
                    <c:v>Iceland</c:v>
                  </c:pt>
                  <c:pt idx="3">
                    <c:v>Sweden</c:v>
                  </c:pt>
                  <c:pt idx="4">
                    <c:v>China</c:v>
                  </c:pt>
                  <c:pt idx="5">
                    <c:v>Norway</c:v>
                  </c:pt>
                  <c:pt idx="6">
                    <c:v>Netherlands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6</c:v>
                </c:pt>
                <c:pt idx="6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1D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7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45535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45535A"/>
                    </a:solidFill>
                    <a:latin typeface="Arial"/>
                  </a:rPr>
                  <a:t>Years from 5% to 50% share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D26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1D26"/>
                </a:solidFill>
                <a:latin typeface="Arial"/>
              </a:rPr>
              <a:t>Powerhouse nations lag other markets on home-market EV adoption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EV sales share, 2022-2025 (%)</c:v>
                </c:pt>
              </c:strCache>
            </c:strRef>
          </c:tx>
          <c:spPr>
            <a:solidFill>
              <a:srgbClr val="D55E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B1D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Auto-manufacturing powerhouses</c:v>
                  </c:pt>
                  <c:pt idx="1">
                    <c:v>Other markets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9.8</c:v>
                </c:pt>
                <c:pt idx="1">
                  <c:v>27.5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0B1D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45535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45535A"/>
                    </a:solidFill>
                    <a:latin typeface="Arial"/>
                  </a:rPr>
                  <a:t>Median EV share of new car sales (%)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D26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1D26"/>
                </a:solidFill>
                <a:latin typeface="Arial"/>
              </a:rPr>
              <a:t>PHEVs hold a persistent ~30-35% share -- the world has not converged on pure battery-electric</a:t>
            </a:r>
          </a:p>
        </c:rich>
      </c:tx>
      <c:layout/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 (battery-electric)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63.5</c:v>
                </c:pt>
                <c:pt idx="1">
                  <c:v>60.3</c:v>
                </c:pt>
                <c:pt idx="2">
                  <c:v>63.3</c:v>
                </c:pt>
                <c:pt idx="3">
                  <c:v>68.3</c:v>
                </c:pt>
                <c:pt idx="4">
                  <c:v>72.1</c:v>
                </c:pt>
                <c:pt idx="5">
                  <c:v>67.1</c:v>
                </c:pt>
                <c:pt idx="6">
                  <c:v>71.2</c:v>
                </c:pt>
                <c:pt idx="7">
                  <c:v>71.6</c:v>
                </c:pt>
                <c:pt idx="8">
                  <c:v>69.3</c:v>
                </c:pt>
                <c:pt idx="9">
                  <c:v>62.9</c:v>
                </c:pt>
                <c:pt idx="10">
                  <c:v>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 + FCEV</c:v>
                </c:pt>
              </c:strCache>
            </c:strRef>
          </c:tx>
          <c:spPr>
            <a:solidFill>
              <a:srgbClr val="E69F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36.5</c:v>
                </c:pt>
                <c:pt idx="1">
                  <c:v>39.7</c:v>
                </c:pt>
                <c:pt idx="2">
                  <c:v>36.7</c:v>
                </c:pt>
                <c:pt idx="3">
                  <c:v>31.7</c:v>
                </c:pt>
                <c:pt idx="4">
                  <c:v>27.9</c:v>
                </c:pt>
                <c:pt idx="5">
                  <c:v>32.9</c:v>
                </c:pt>
                <c:pt idx="6">
                  <c:v>28.8</c:v>
                </c:pt>
                <c:pt idx="7">
                  <c:v>28.4</c:v>
                </c:pt>
                <c:pt idx="8">
                  <c:v>30.7</c:v>
                </c:pt>
                <c:pt idx="9">
                  <c:v>37.1</c:v>
                </c:pt>
                <c:pt idx="10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45535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45535A"/>
                    </a:solidFill>
                    <a:latin typeface="Arial"/>
                  </a:rPr>
                  <a:t>Share of world EV sales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D26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1D26"/>
                </a:solidFill>
                <a:latin typeface="Arial"/>
              </a:rPr>
              <a:t>The top 5 EV markets still command roughly 80% of world sales volume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Top-5 countries' share of world EV sales (%)</c:v>
                </c:pt>
              </c:strCache>
            </c:strRef>
          </c:tx>
          <c:spPr>
            <a:solidFill>
              <a:srgbClr val="D55E00"/>
            </a:solidFill>
            <a:ln w="38100" cap="flat">
              <a:solidFill>
                <a:srgbClr val="D55E00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5535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55E00"/>
              </a:solidFill>
              <a:ln w="9525" cap="flat">
                <a:solidFill>
                  <a:srgbClr val="D55E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78.9</c:v>
                </c:pt>
                <c:pt idx="1">
                  <c:v>80.7</c:v>
                </c:pt>
                <c:pt idx="2">
                  <c:v>79.4</c:v>
                </c:pt>
                <c:pt idx="3">
                  <c:v>81.3</c:v>
                </c:pt>
                <c:pt idx="4">
                  <c:v>77.8</c:v>
                </c:pt>
                <c:pt idx="5">
                  <c:v>73.9</c:v>
                </c:pt>
                <c:pt idx="6">
                  <c:v>79.8</c:v>
                </c:pt>
                <c:pt idx="7">
                  <c:v>83.5</c:v>
                </c:pt>
                <c:pt idx="8">
                  <c:v>82</c:v>
                </c:pt>
                <c:pt idx="9">
                  <c:v>83.7</c:v>
                </c:pt>
                <c:pt idx="10">
                  <c:v>80.9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45535A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4E7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45535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45535A"/>
                    </a:solidFill>
                    <a:latin typeface="Arial"/>
                  </a:rPr>
                  <a:t>Top-5 share of world EV sales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D26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1D26"/>
                </a:solidFill>
                <a:latin typeface="Arial"/>
              </a:rPr>
              <a:t>Turkey, Thailand and Brazil surged up the ranking; Japan and Iceland slid down it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Rank change, 2015 to 2025 (positive = climbed)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D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DC9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DC9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DC9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DDC9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DDC9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55E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55E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55E0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55E0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55E0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Turkey</c:v>
                  </c:pt>
                  <c:pt idx="1">
                    <c:v>Thailand</c:v>
                  </c:pt>
                  <c:pt idx="2">
                    <c:v>Brazil</c:v>
                  </c:pt>
                  <c:pt idx="3">
                    <c:v>Israel</c:v>
                  </c:pt>
                  <c:pt idx="4">
                    <c:v>Spain</c:v>
                  </c:pt>
                  <c:pt idx="5">
                    <c:v>Switzerland</c:v>
                  </c:pt>
                  <c:pt idx="6">
                    <c:v>Japan</c:v>
                  </c:pt>
                  <c:pt idx="7">
                    <c:v>New Zealand</c:v>
                  </c:pt>
                  <c:pt idx="8">
                    <c:v>Iceland</c:v>
                  </c:pt>
                  <c:pt idx="9">
                    <c:v>South Africa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</c:v>
                </c:pt>
                <c:pt idx="1">
                  <c:v>20</c:v>
                </c:pt>
                <c:pt idx="2">
                  <c:v>19</c:v>
                </c:pt>
                <c:pt idx="3">
                  <c:v>11</c:v>
                </c:pt>
                <c:pt idx="4">
                  <c:v>10</c:v>
                </c:pt>
                <c:pt idx="5">
                  <c:v>-17</c:v>
                </c:pt>
                <c:pt idx="6">
                  <c:v>-17</c:v>
                </c:pt>
                <c:pt idx="7">
                  <c:v>-21</c:v>
                </c:pt>
                <c:pt idx="8">
                  <c:v>-23</c:v>
                </c:pt>
                <c:pt idx="9">
                  <c:v>-28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1D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7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45535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45535A"/>
                    </a:solidFill>
                    <a:latin typeface="Arial"/>
                  </a:rPr>
                  <a:t>Rank-position change (positive = climbed)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D26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1D26"/>
                </a:solidFill>
                <a:latin typeface="Arial"/>
              </a:rPr>
              <a:t>Norway and Iceland show what near-complete displacement of the ICE looks like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Norway</c:v>
                </c:pt>
              </c:strCache>
            </c:strRef>
          </c:tx>
          <c:spPr>
            <a:solidFill>
              <a:srgbClr val="3DDC97"/>
            </a:solidFill>
            <a:ln w="31750" cap="flat">
              <a:solidFill>
                <a:srgbClr val="3DDC9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DDC97"/>
              </a:solidFill>
              <a:ln w="9525" cap="flat">
                <a:solidFill>
                  <a:srgbClr val="3DDC9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22</c:v>
                </c:pt>
                <c:pt idx="1">
                  <c:v>29</c:v>
                </c:pt>
                <c:pt idx="2">
                  <c:v>39</c:v>
                </c:pt>
                <c:pt idx="3">
                  <c:v>49</c:v>
                </c:pt>
                <c:pt idx="4">
                  <c:v>56</c:v>
                </c:pt>
                <c:pt idx="5">
                  <c:v>75</c:v>
                </c:pt>
                <c:pt idx="6">
                  <c:v>86</c:v>
                </c:pt>
                <c:pt idx="7">
                  <c:v>89</c:v>
                </c:pt>
                <c:pt idx="8">
                  <c:v>90</c:v>
                </c:pt>
                <c:pt idx="9">
                  <c:v>92</c:v>
                </c:pt>
                <c:pt idx="10">
                  <c:v>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Iceland</c:v>
                </c:pt>
              </c:strCache>
            </c:strRef>
          </c:tx>
          <c:spPr>
            <a:solidFill>
              <a:srgbClr val="56B4E9"/>
            </a:solidFill>
            <a:ln w="31750" cap="flat">
              <a:solidFill>
                <a:srgbClr val="56B4E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6B4E9"/>
              </a:solidFill>
              <a:ln w="9525" cap="flat">
                <a:solidFill>
                  <a:srgbClr val="56B4E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3.9</c:v>
                </c:pt>
                <c:pt idx="1">
                  <c:v>6.3</c:v>
                </c:pt>
                <c:pt idx="2">
                  <c:v>14</c:v>
                </c:pt>
                <c:pt idx="3">
                  <c:v>20</c:v>
                </c:pt>
                <c:pt idx="4">
                  <c:v>26</c:v>
                </c:pt>
                <c:pt idx="5">
                  <c:v>52</c:v>
                </c:pt>
                <c:pt idx="6">
                  <c:v>70</c:v>
                </c:pt>
                <c:pt idx="7">
                  <c:v>69</c:v>
                </c:pt>
                <c:pt idx="8">
                  <c:v>71</c:v>
                </c:pt>
                <c:pt idx="9">
                  <c:v>43</c:v>
                </c:pt>
                <c:pt idx="10">
                  <c:v>62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China</c:v>
                </c:pt>
              </c:strCache>
            </c:strRef>
          </c:tx>
          <c:spPr>
            <a:solidFill>
              <a:srgbClr val="D55E00"/>
            </a:solidFill>
            <a:ln w="31750" cap="flat">
              <a:solidFill>
                <a:srgbClr val="D55E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55E00"/>
              </a:solidFill>
              <a:ln w="9525" cap="flat">
                <a:solidFill>
                  <a:srgbClr val="D55E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1.1</c:v>
                </c:pt>
                <c:pt idx="1">
                  <c:v>1.5</c:v>
                </c:pt>
                <c:pt idx="2">
                  <c:v>2.4</c:v>
                </c:pt>
                <c:pt idx="3">
                  <c:v>4.7</c:v>
                </c:pt>
                <c:pt idx="4">
                  <c:v>5</c:v>
                </c:pt>
                <c:pt idx="5">
                  <c:v>5.7</c:v>
                </c:pt>
                <c:pt idx="6">
                  <c:v>16</c:v>
                </c:pt>
                <c:pt idx="7">
                  <c:v>29</c:v>
                </c:pt>
                <c:pt idx="8">
                  <c:v>38</c:v>
                </c:pt>
                <c:pt idx="9">
                  <c:v>48</c:v>
                </c:pt>
                <c:pt idx="10">
                  <c:v>53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United States</c:v>
                </c:pt>
              </c:strCache>
            </c:strRef>
          </c:tx>
          <c:spPr>
            <a:solidFill>
              <a:srgbClr val="B0B0B0"/>
            </a:solidFill>
            <a:ln w="31750" cap="flat">
              <a:solidFill>
                <a:srgbClr val="B0B0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0B0B0"/>
              </a:solidFill>
              <a:ln w="9525" cap="flat">
                <a:solidFill>
                  <a:srgbClr val="B0B0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0.7</c:v>
                </c:pt>
                <c:pt idx="1">
                  <c:v>1</c:v>
                </c:pt>
                <c:pt idx="2">
                  <c:v>1.3</c:v>
                </c:pt>
                <c:pt idx="3">
                  <c:v>2.3</c:v>
                </c:pt>
                <c:pt idx="4">
                  <c:v>2.1</c:v>
                </c:pt>
                <c:pt idx="5">
                  <c:v>2.3</c:v>
                </c:pt>
                <c:pt idx="6">
                  <c:v>4.7</c:v>
                </c:pt>
                <c:pt idx="7">
                  <c:v>7.7</c:v>
                </c:pt>
                <c:pt idx="8">
                  <c:v>9.7</c:v>
                </c:pt>
                <c:pt idx="9">
                  <c:v>10</c:v>
                </c:pt>
                <c:pt idx="10">
                  <c:v>10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World</c:v>
                </c:pt>
              </c:strCache>
            </c:strRef>
          </c:tx>
          <c:spPr>
            <a:solidFill>
              <a:srgbClr val="1A1A1A"/>
            </a:solidFill>
            <a:ln w="3175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0.7</c:v>
                </c:pt>
                <c:pt idx="1">
                  <c:v>1</c:v>
                </c:pt>
                <c:pt idx="2">
                  <c:v>1.4</c:v>
                </c:pt>
                <c:pt idx="3">
                  <c:v>2.4</c:v>
                </c:pt>
                <c:pt idx="4">
                  <c:v>2.7</c:v>
                </c:pt>
                <c:pt idx="5">
                  <c:v>4.4</c:v>
                </c:pt>
                <c:pt idx="6">
                  <c:v>9.3</c:v>
                </c:pt>
                <c:pt idx="7">
                  <c:v>15</c:v>
                </c:pt>
                <c:pt idx="8">
                  <c:v>18</c:v>
                </c:pt>
                <c:pt idx="9">
                  <c:v>21</c:v>
                </c:pt>
                <c:pt idx="10">
                  <c:v>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45535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45535A"/>
                    </a:solidFill>
                    <a:latin typeface="Arial"/>
                  </a:rPr>
                  <a:t>EV share of new car sales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10332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10332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ELECTRIC VEHICLE MARKET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EVs Are Transforming the Automobile Industry Across Countries, 2010-2025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Individual Project — Data Visualization, Summer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countries  ·  16 years (2010-2025)  ·  IEA Global EV Outlook 2025 data, via Our World in Data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Dataset: A Decade and a Half of EV Adoption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country per year, 2010-2025, built from four IEA Global EV Outlook 2025 series republished by Our World in Data: annual EV sales, EV sales as a share of all new car sales, EV stock (the installed fleet), and the battery-electric (BEV) share of EV sales. Enriched with continent groupings, an auto-manufacturing-powerhouse flag, market-phase tiers, and each country's 'tipping point' year.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0632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3F5F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461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tracked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9272" y="30632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3F5F4"/>
          </a:solidFill>
          <a:ln/>
        </p:spPr>
      </p:sp>
      <p:sp>
        <p:nvSpPr>
          <p:cNvPr id="8" name="Text 6"/>
          <p:cNvSpPr/>
          <p:nvPr/>
        </p:nvSpPr>
        <p:spPr>
          <a:xfrm>
            <a:off x="3319272" y="32461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55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56432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 the 5% tipping point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1344" y="30632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3F5F4"/>
          </a:solidFill>
          <a:ln/>
        </p:spPr>
      </p:sp>
      <p:sp>
        <p:nvSpPr>
          <p:cNvPr id="11" name="Text 9"/>
          <p:cNvSpPr/>
          <p:nvPr/>
        </p:nvSpPr>
        <p:spPr>
          <a:xfrm>
            <a:off x="6181344" y="32461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18504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50% EV sales share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43416" y="30632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3F5F4"/>
          </a:solidFill>
          <a:ln/>
        </p:spPr>
      </p:sp>
      <p:sp>
        <p:nvSpPr>
          <p:cNvPr id="14" name="Text 12"/>
          <p:cNvSpPr/>
          <p:nvPr/>
        </p:nvSpPr>
        <p:spPr>
          <a:xfrm>
            <a:off x="9043416" y="32461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9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40.8x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80576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EV sales growth, 2015-25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International Energy Agency, Global EV Outlook 2025 — https://www.iea.org/reports/global-ev-outlook-2025, via Our World in Data (https://ourworldindata.org/electric-car-sales).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'Auto-manufacturing powerhouse' is a fixed list of the world's largest light-vehicle producing nations (China, USA, Japan, Germany, India, South Korea, and others) used to compare adoption speed against markets with no legacy internal-combustion industry to protect — an analytical grouping, not a value judgement.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fast has the world actually gone electric, and who is driving that volume?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11064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alone rose from 40.6% to 62.7% of that global sales volume -- the "global" EV transformation is, in raw units, disproportionately a Chinese one.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Electric Vehicle Market Analysis, 2010-2025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continent leads the world's EV transformation today?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11064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held the clearest early lead, but Asia-Pacific's volume (driven overwhelmingly by China) has commanded roughly two-thirds of world EV sales since 2022.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Electric Vehicle Market Analysis, 2010-2025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 a market crosses the 5% tipping point, how fast does it reach the mainstream (50%)?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11064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 of 60 tracked countries have reached 50% EV sales share so far. China took 6 years to make the same jump Iceland made in 4 -- across roughly 1,000x the sales volume.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Electric Vehicle Market Analysis, 2010-2025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legacy auto-manufacturing powerhouses transforming slower than other markets?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371600" y="1371600"/>
          <a:ext cx="94183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2022-2025, the median EV sales share among auto-manufacturing powerhouses was 9.8%, versus 27.5% among other markets -- roughly a three-fold gap.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Electric Vehicle Market Analysis, 2010-2025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the market has scaled, has it settled on pure battery-electric, or stayed hybrid?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11064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BEV share has hovered in the 60-65% range through the mid-2020s, after dipping from the pioneer-era 70-90% highs -- plug-in hybrids found a durable foothold rather than disappearing.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Electric Vehicle Market Analysis, 2010-2025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 the global EV market become more or less concentrated among a few countries?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11064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held essentially flat -- 78.9% in 2015 (led by China, United States, Norway) to 80.9% in 2025 (led by China, United States, Germany) -- even as dozens of new countries entered the market.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Electric Vehicle Market Analysis, 2010-2025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countries climbed or fell the most in the global sales-volume ranking, 2015-2025?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11064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went from the world's 5th-largest EV market in 2015 to 22nd in 2025 -- not because its own sales fell, but because dozens of other countries' volumes scaled past its comparatively flat growth.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Electric Vehicle Market Analysis, 2010-2025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near-complete EV transformation actually look like?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11064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Norway reached 97% EV sales share in 2025 and Iceland 62% -- but the World average (25%) and even China (53%) show most of the globe is still mid-transition, not past it.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Electric Vehicle Market Analysis, 2010-2025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It Yourself: The Interactive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1033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20" dirty="0"/>
          </a:p>
        </p:txBody>
      </p:sp>
      <p:sp>
        <p:nvSpPr>
          <p:cNvPr id="5" name="Text 3"/>
          <p:cNvSpPr/>
          <p:nvPr/>
        </p:nvSpPr>
        <p:spPr>
          <a:xfrm>
            <a:off x="1417320" y="1417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Overview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sales/share trend, a country choropleth, and the top-15 markets by volume, for any year and continent filter.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640080" cy="640080"/>
          </a:xfrm>
          <a:prstGeom prst="ellipse">
            <a:avLst/>
          </a:prstGeom>
          <a:solidFill>
            <a:srgbClr val="10332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1417320" y="2834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S-Curve Explorer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32918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any country against its continent and the world; a bar chart of every market's 5%-to-50% tipping speed.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640080" cy="640080"/>
          </a:xfrm>
          <a:prstGeom prst="ellipse">
            <a:avLst/>
          </a:prstGeom>
          <a:solidFill>
            <a:srgbClr val="10332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1417320" y="42519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Powerhouses vs. Challengers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47091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manufacturer vs. other-market comparison, a live growth-vs-maturity scatter explorer, and ranking-churn charts.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URL: </a:t>
            </a:r>
            <a:pPr indent="0" marL="0">
              <a:buNone/>
            </a:pPr>
            <a:r>
              <a:rPr lang="en-US" sz="1400" dirty="0">
                <a:solidFill>
                  <a:srgbClr val="C7D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&lt;your-streamlit-app-url&gt;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Electric Vehicle Market Analysis, 2010-2025 · Data Visualization, Summer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1033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5" name="Text 3"/>
          <p:cNvSpPr/>
          <p:nvPr/>
        </p:nvSpPr>
        <p:spPr>
          <a:xfrm>
            <a:off x="1280160" y="13258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transformation is real and fast (41x sales growth since 2015) but heavily concentrated: China alone drove 63% of 2025's global volume, and the top 5 markets have held ~80% of sales throughout the decade.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10332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280160" y="23774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and European markets pioneered the fastest complete transformations (Norway, Iceland: 4-year tipping-to-mainstream sprints), but they are small markets -- China's slower per-capita pace still moves far more metal.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10332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1280160" y="34290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auto-manufacturing powerhouses are electrifying their home markets roughly 3x slower than other countries, a genuine tension between industrial-policy caution and the pace of global change.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10332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280160" y="44805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world, including the current volume leader China, remains mid-transition (25-53% EV share) rather than past it -- the story of the next decade is still substantially unwritten.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44752"/>
            <a:ext cx="109728" cy="10972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IEA Global EV Outlook 2025, republished by Our World in Data under a compatible open license.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13432"/>
            <a:ext cx="109728" cy="10972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starts later for markets with no measurable EV sales before roughly 2015-2019 -- those countries simply have fewer rows, not missing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82112"/>
            <a:ext cx="109728" cy="10972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175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'Tipping point' (5%) and 'mainstream' (50%) thresholds follow commonly-cited EV-adoption S-curve benchmarks (BloombergNEF, IEA), not a claim inherent to the raw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050792"/>
            <a:ext cx="109728" cy="10972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886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'Auto-manufacturing powerhouse' is a fixed list built from OICA global vehicle-production rankings -- an analytical grouping for comparison, not a value judgement.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919472"/>
            <a:ext cx="109728" cy="10972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7548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55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'Rest of World' aggregate is a residual (World minus all named countries) and can show small negative year-over-year swings from data revisions -- not a literal fleet decline.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023360" cy="4023360"/>
          </a:xfrm>
          <a:prstGeom prst="ellipse">
            <a:avLst/>
          </a:prstGeom>
          <a:solidFill>
            <a:srgbClr val="10332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10332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Electric Vehicle Market Analysis, 2010-2025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Repository, dashboard, and notebook links in the README.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2026-07-27T13:21:59Z</dcterms:created>
  <dcterms:modified xsi:type="dcterms:W3CDTF">2026-07-27T13:21:59Z</dcterms:modified>
</cp:coreProperties>
</file>